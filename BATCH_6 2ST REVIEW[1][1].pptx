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96" r:id="rId2"/>
    <p:sldId id="305" r:id="rId3"/>
    <p:sldId id="306" r:id="rId4"/>
    <p:sldId id="307" r:id="rId5"/>
    <p:sldId id="308" r:id="rId6"/>
    <p:sldId id="309" r:id="rId7"/>
    <p:sldId id="311" r:id="rId8"/>
    <p:sldId id="322" r:id="rId9"/>
    <p:sldId id="335" r:id="rId10"/>
    <p:sldId id="321" r:id="rId11"/>
    <p:sldId id="314" r:id="rId12"/>
    <p:sldId id="348" r:id="rId13"/>
    <p:sldId id="349" r:id="rId14"/>
    <p:sldId id="350" r:id="rId15"/>
    <p:sldId id="351" r:id="rId16"/>
    <p:sldId id="352" r:id="rId17"/>
    <p:sldId id="353" r:id="rId18"/>
    <p:sldId id="354" r:id="rId19"/>
    <p:sldId id="355" r:id="rId20"/>
    <p:sldId id="356" r:id="rId21"/>
    <p:sldId id="357" r:id="rId22"/>
    <p:sldId id="34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008" y="45"/>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pPr/>
              <a:t>3/4/2025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pPr/>
              <a:t>‹#›</a:t>
            </a:fld>
            <a:endParaRPr lang="en-US"/>
          </a:p>
        </p:txBody>
      </p:sp>
    </p:spTree>
    <p:extLst>
      <p:ext uri="{BB962C8B-B14F-4D97-AF65-F5344CB8AC3E}">
        <p14:creationId xmlns:p14="http://schemas.microsoft.com/office/powerpoint/2010/main" val="424741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120298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3/4/2025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3/4/2025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3/4/2025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3/4/2025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3/4/2025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3/4/2025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3/4/2025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150" y="0"/>
            <a:ext cx="8153400" cy="1219200"/>
          </a:xfrm>
        </p:spPr>
        <p:txBody>
          <a:bodyPr vert="horz" lIns="91440" tIns="45720" rIns="91440" bIns="45720" anchor="ctr">
            <a:noAutofit/>
          </a:bodyPr>
          <a:lstStyle/>
          <a:p>
            <a:pPr algn="ctr"/>
            <a:r>
              <a:rPr lang="en-US" sz="3200" b="1" dirty="0">
                <a:solidFill>
                  <a:schemeClr val="tx1"/>
                </a:solidFill>
                <a:ea typeface="+mj-lt"/>
                <a:cs typeface="+mj-lt"/>
              </a:rPr>
              <a:t>Super Cipher Cryptography System Based on </a:t>
            </a:r>
          </a:p>
          <a:p>
            <a:pPr algn="ctr"/>
            <a:r>
              <a:rPr lang="en-US" sz="3200" b="1" dirty="0">
                <a:solidFill>
                  <a:schemeClr val="tx1"/>
                </a:solidFill>
                <a:ea typeface="+mj-lt"/>
                <a:cs typeface="+mj-lt"/>
              </a:rPr>
              <a:t>Vigenere Cipher and Polybius Cipher </a:t>
            </a:r>
          </a:p>
          <a:p>
            <a:pPr algn="ctr"/>
            <a:endParaRPr lang="en-US" sz="2500" b="1" dirty="0"/>
          </a:p>
        </p:txBody>
      </p:sp>
      <p:sp>
        <p:nvSpPr>
          <p:cNvPr id="3" name="Content Placeholder 2"/>
          <p:cNvSpPr>
            <a:spLocks noGrp="1"/>
          </p:cNvSpPr>
          <p:nvPr>
            <p:ph sz="quarter" idx="1"/>
          </p:nvPr>
        </p:nvSpPr>
        <p:spPr>
          <a:xfrm>
            <a:off x="133350" y="1524000"/>
            <a:ext cx="8763000" cy="5334000"/>
          </a:xfrm>
        </p:spPr>
        <p:style>
          <a:lnRef idx="2">
            <a:schemeClr val="accent2"/>
          </a:lnRef>
          <a:fillRef idx="1">
            <a:schemeClr val="lt1"/>
          </a:fillRef>
          <a:effectRef idx="0">
            <a:schemeClr val="accent2"/>
          </a:effectRef>
          <a:fontRef idx="minor">
            <a:schemeClr val="dk1"/>
          </a:fontRef>
        </p:style>
        <p:txBody>
          <a:bodyPr vert="horz" lIns="91440" tIns="45720" rIns="91440" bIns="45720" anchor="t">
            <a:normAutofit fontScale="32500" lnSpcReduction="20000"/>
          </a:bodyPr>
          <a:lstStyle/>
          <a:p>
            <a:pPr algn="ctr">
              <a:buNone/>
            </a:pPr>
            <a:r>
              <a:rPr lang="en-US" b="1" dirty="0"/>
              <a:t>By</a:t>
            </a:r>
          </a:p>
          <a:p>
            <a:pPr algn="ctr">
              <a:buNone/>
            </a:pPr>
            <a:r>
              <a:rPr lang="en-IN" sz="4300" dirty="0">
                <a:latin typeface="Times New Roman" panose="02020603050405020304" pitchFamily="18" charset="0"/>
                <a:cs typeface="Times New Roman" panose="02020603050405020304" pitchFamily="18" charset="0"/>
              </a:rPr>
              <a:t>THONDALADINNE TARUN KUMAR </a:t>
            </a:r>
            <a:r>
              <a:rPr lang="en-US" sz="4300" b="1" dirty="0">
                <a:latin typeface="Times New Roman" panose="02020603050405020304" pitchFamily="18" charset="0"/>
                <a:cs typeface="Times New Roman" panose="02020603050405020304" pitchFamily="18" charset="0"/>
              </a:rPr>
              <a:t>       (</a:t>
            </a:r>
            <a:r>
              <a:rPr lang="en-IN" sz="4300" dirty="0">
                <a:latin typeface="Times New Roman" panose="02020603050405020304" pitchFamily="18" charset="0"/>
                <a:cs typeface="Times New Roman" panose="02020603050405020304" pitchFamily="18" charset="0"/>
              </a:rPr>
              <a:t>21BF1A3754)</a:t>
            </a:r>
          </a:p>
          <a:p>
            <a:pPr algn="ctr">
              <a:buNone/>
            </a:pPr>
            <a:r>
              <a:rPr lang="en-IN" sz="4300" dirty="0">
                <a:latin typeface="Times New Roman" panose="02020603050405020304" pitchFamily="18" charset="0"/>
                <a:cs typeface="Times New Roman" panose="02020603050405020304" pitchFamily="18" charset="0"/>
              </a:rPr>
              <a:t>KANNEPPAGARI YOGANANDHA            (21BF1A3732)</a:t>
            </a:r>
          </a:p>
          <a:p>
            <a:pPr algn="ctr">
              <a:buNone/>
            </a:pPr>
            <a:r>
              <a:rPr lang="en-IN" sz="4300" dirty="0">
                <a:latin typeface="Times New Roman" panose="02020603050405020304" pitchFamily="18" charset="0"/>
                <a:cs typeface="Times New Roman" panose="02020603050405020304" pitchFamily="18" charset="0"/>
              </a:rPr>
              <a:t>BURUJU ANYALA                                        (21BF1A3710)</a:t>
            </a:r>
          </a:p>
          <a:p>
            <a:pPr algn="ctr">
              <a:buNone/>
            </a:pPr>
            <a:r>
              <a:rPr lang="en-IN" sz="4300" dirty="0">
                <a:latin typeface="Times New Roman"/>
                <a:cs typeface="Times New Roman"/>
              </a:rPr>
              <a:t>PULAGALLA SRIHARI                                (21BF1A3749)</a:t>
            </a:r>
            <a:r>
              <a:rPr lang="en-IN" dirty="0"/>
              <a:t>      </a:t>
            </a:r>
            <a:endParaRPr lang="en-US" dirty="0"/>
          </a:p>
          <a:p>
            <a:pPr algn="ctr">
              <a:buNone/>
            </a:pPr>
            <a:r>
              <a:rPr lang="en-US" sz="5600" b="1" dirty="0"/>
              <a:t>Under the guidance of</a:t>
            </a:r>
            <a:endParaRPr lang="en-US" sz="5600" dirty="0"/>
          </a:p>
          <a:p>
            <a:pPr algn="ctr">
              <a:buNone/>
            </a:pPr>
            <a:r>
              <a:rPr lang="en-US" sz="5600" b="1" dirty="0"/>
              <a:t>Mrs. A. Ashasharmani(Ph.D) </a:t>
            </a:r>
            <a:endParaRPr lang="en-US" sz="5600" dirty="0"/>
          </a:p>
          <a:p>
            <a:pPr algn="ctr">
              <a:buNone/>
            </a:pPr>
            <a:endParaRPr lang="en-US" sz="5600" b="1" dirty="0"/>
          </a:p>
          <a:p>
            <a:pPr algn="ctr">
              <a:buNone/>
            </a:pPr>
            <a:endParaRPr lang="en-US" b="1" dirty="0"/>
          </a:p>
          <a:p>
            <a:pPr algn="ctr">
              <a:buNone/>
            </a:pPr>
            <a:endParaRPr lang="en-US" b="1" dirty="0"/>
          </a:p>
          <a:p>
            <a:pPr algn="ctr">
              <a:buNone/>
            </a:pPr>
            <a:endParaRPr lang="en-US" b="1" dirty="0"/>
          </a:p>
          <a:p>
            <a:pPr algn="ctr">
              <a:buNone/>
            </a:pPr>
            <a:endParaRPr lang="en-US" b="1" dirty="0"/>
          </a:p>
          <a:p>
            <a:pPr algn="ctr">
              <a:buNone/>
            </a:pPr>
            <a:endParaRPr lang="en-US" dirty="0"/>
          </a:p>
          <a:p>
            <a:pPr algn="ctr">
              <a:buNone/>
            </a:pPr>
            <a:endParaRPr lang="en-US" sz="3800" b="1" dirty="0"/>
          </a:p>
          <a:p>
            <a:pPr algn="ctr">
              <a:buNone/>
            </a:pPr>
            <a:r>
              <a:rPr lang="en-US" sz="4800" b="1" dirty="0">
                <a:latin typeface="Times New Roman"/>
                <a:cs typeface="Times New Roman"/>
              </a:rPr>
              <a:t>DEPARTMENT OF COMPUTER SCIENCE AND ENGINEERING (CYBER SECURITY) </a:t>
            </a:r>
            <a:endParaRPr lang="en-US" sz="4800" dirty="0">
              <a:latin typeface="Times New Roman"/>
              <a:cs typeface="Times New Roman"/>
            </a:endParaRPr>
          </a:p>
          <a:p>
            <a:pPr algn="ctr">
              <a:buNone/>
            </a:pPr>
            <a:r>
              <a:rPr lang="en-US" sz="7200" b="1" dirty="0">
                <a:latin typeface="Times New Roman"/>
                <a:cs typeface="Times New Roman"/>
              </a:rPr>
              <a:t>SRI VENKATESWARA COLLEGE OF ENGINEERING</a:t>
            </a:r>
          </a:p>
          <a:p>
            <a:pPr algn="ctr">
              <a:buNone/>
            </a:pPr>
            <a:r>
              <a:rPr lang="en-US" sz="5600" b="1" dirty="0"/>
              <a:t>(Autonomous)</a:t>
            </a:r>
            <a:endParaRPr lang="en-US" sz="5600" dirty="0"/>
          </a:p>
          <a:p>
            <a:pPr algn="ctr">
              <a:buNone/>
            </a:pPr>
            <a:r>
              <a:rPr lang="en-US" sz="5600" b="1" dirty="0"/>
              <a:t>Karakambadi Road, Tirupati-517507</a:t>
            </a:r>
            <a:endParaRPr lang="en-US" sz="5600" dirty="0"/>
          </a:p>
          <a:p>
            <a:pPr algn="ctr">
              <a:buNone/>
            </a:pPr>
            <a:r>
              <a:rPr lang="en-US" sz="5600" b="1" dirty="0"/>
              <a:t>2021-2025</a:t>
            </a:r>
            <a:endParaRPr lang="en-US" sz="5600" dirty="0"/>
          </a:p>
          <a:p>
            <a:endParaRPr lang="en-US" dirty="0"/>
          </a:p>
        </p:txBody>
      </p:sp>
      <p:pic>
        <p:nvPicPr>
          <p:cNvPr id="5" name="Picture 4">
            <a:extLst>
              <a:ext uri="{FF2B5EF4-FFF2-40B4-BE49-F238E27FC236}">
                <a16:creationId xmlns:a16="http://schemas.microsoft.com/office/drawing/2014/main" id="{310C0FCD-7A49-0E60-042B-A8BC7C0BD6FA}"/>
              </a:ext>
            </a:extLst>
          </p:cNvPr>
          <p:cNvPicPr/>
          <p:nvPr/>
        </p:nvPicPr>
        <p:blipFill>
          <a:blip r:embed="rId2"/>
          <a:stretch>
            <a:fillRect/>
          </a:stretch>
        </p:blipFill>
        <p:spPr>
          <a:xfrm>
            <a:off x="3779912" y="3356992"/>
            <a:ext cx="1511300" cy="15113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OUTLINE</a:t>
            </a:r>
          </a:p>
        </p:txBody>
      </p:sp>
      <p:sp>
        <p:nvSpPr>
          <p:cNvPr id="3" name="Content Placeholder 2"/>
          <p:cNvSpPr>
            <a:spLocks noGrp="1"/>
          </p:cNvSpPr>
          <p:nvPr>
            <p:ph sz="quarter" idx="1"/>
          </p:nvPr>
        </p:nvSpPr>
        <p:spPr>
          <a:xfrm>
            <a:off x="612648" y="1916832"/>
            <a:ext cx="3167264" cy="5069160"/>
          </a:xfrm>
        </p:spPr>
        <p:txBody>
          <a:bodyPr>
            <a:normAutofit/>
          </a:bodyPr>
          <a:lstStyle/>
          <a:p>
            <a:r>
              <a:rPr lang="en-US" sz="2000"/>
              <a:t>ABSTRACT</a:t>
            </a:r>
          </a:p>
          <a:p>
            <a:r>
              <a:rPr lang="en-US" sz="2000"/>
              <a:t>INTRODUCTION</a:t>
            </a:r>
          </a:p>
          <a:p>
            <a:r>
              <a:rPr lang="en-US" sz="2000"/>
              <a:t>PROBLEM  STATEMENT </a:t>
            </a:r>
          </a:p>
          <a:p>
            <a:r>
              <a:rPr lang="en-US" sz="2000"/>
              <a:t>EXISTING SYSTEM</a:t>
            </a:r>
          </a:p>
          <a:p>
            <a:r>
              <a:rPr lang="en-US" sz="2000"/>
              <a:t>DISADVANTAGES</a:t>
            </a:r>
          </a:p>
          <a:p>
            <a:r>
              <a:rPr lang="en-US" sz="2000"/>
              <a:t>PROPOSED SYSTEM</a:t>
            </a:r>
          </a:p>
          <a:p>
            <a:r>
              <a:rPr lang="en-US" sz="2000"/>
              <a:t>ADVANTAGES</a:t>
            </a:r>
          </a:p>
          <a:p>
            <a:r>
              <a:rPr lang="en-US" sz="2000"/>
              <a:t>ARCHITECTURE</a:t>
            </a:r>
          </a:p>
          <a:p>
            <a:r>
              <a:rPr lang="en-US" sz="2000"/>
              <a:t>WORKFLOW</a:t>
            </a:r>
          </a:p>
          <a:p>
            <a:r>
              <a:rPr lang="en-US" sz="2000"/>
              <a:t>SYSTEM ARCHITECTURE</a:t>
            </a:r>
          </a:p>
        </p:txBody>
      </p:sp>
      <p:sp>
        <p:nvSpPr>
          <p:cNvPr id="4" name="Content Placeholder 2"/>
          <p:cNvSpPr txBox="1">
            <a:spLocks/>
          </p:cNvSpPr>
          <p:nvPr/>
        </p:nvSpPr>
        <p:spPr>
          <a:xfrm>
            <a:off x="4860032" y="1916832"/>
            <a:ext cx="3384376" cy="506916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sz="2000"/>
              <a:t>HARDWARE REQUIREMENTS</a:t>
            </a:r>
          </a:p>
          <a:p>
            <a:r>
              <a:rPr lang="en-US" sz="2000"/>
              <a:t>SOFTWARE REQUIREMENTS</a:t>
            </a:r>
          </a:p>
          <a:p>
            <a:r>
              <a:rPr lang="en-US" sz="2000"/>
              <a:t>UML DIAGRAMS</a:t>
            </a:r>
          </a:p>
          <a:p>
            <a:r>
              <a:rPr lang="en-US" sz="2000"/>
              <a:t>MODULES</a:t>
            </a:r>
          </a:p>
          <a:p>
            <a:r>
              <a:rPr lang="en-US" sz="2000"/>
              <a:t>CODING</a:t>
            </a:r>
          </a:p>
          <a:p>
            <a:r>
              <a:rPr lang="en-US" sz="2000"/>
              <a:t>TESTING</a:t>
            </a:r>
          </a:p>
          <a:p>
            <a:r>
              <a:rPr lang="en-US" sz="2000"/>
              <a:t>EXECUTION</a:t>
            </a:r>
          </a:p>
          <a:p>
            <a:r>
              <a:rPr lang="en-US" sz="2000"/>
              <a:t>SCREENSHOTS</a:t>
            </a:r>
          </a:p>
          <a:p>
            <a:r>
              <a:rPr lang="en-US" sz="2000"/>
              <a:t>CONCLUSION</a:t>
            </a:r>
          </a:p>
          <a:p>
            <a:r>
              <a:rPr lang="en-US" sz="2000"/>
              <a:t>REFERENCES</a:t>
            </a:r>
          </a:p>
        </p:txBody>
      </p:sp>
    </p:spTree>
    <p:extLst>
      <p:ext uri="{BB962C8B-B14F-4D97-AF65-F5344CB8AC3E}">
        <p14:creationId xmlns:p14="http://schemas.microsoft.com/office/powerpoint/2010/main" val="3112408762"/>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w Cen MT (Headings)"/>
                <a:cs typeface="Times New Roman" panose="02020603050405020304" pitchFamily="18" charset="0"/>
              </a:rPr>
              <a:t>ABSTRACT</a:t>
            </a:r>
            <a:endParaRPr lang="en-US">
              <a:latin typeface="Tw Cen MT (Headings)"/>
            </a:endParaRPr>
          </a:p>
        </p:txBody>
      </p:sp>
      <p:sp>
        <p:nvSpPr>
          <p:cNvPr id="3" name="Content Placeholder 2"/>
          <p:cNvSpPr>
            <a:spLocks noGrp="1"/>
          </p:cNvSpPr>
          <p:nvPr>
            <p:ph sz="quarter" idx="1"/>
          </p:nvPr>
        </p:nvSpPr>
        <p:spPr>
          <a:xfrm>
            <a:off x="421262" y="1704256"/>
            <a:ext cx="8153400" cy="4925144"/>
          </a:xfrm>
        </p:spPr>
        <p:txBody>
          <a:bodyPr>
            <a:noAutofit/>
          </a:bodyPr>
          <a:lstStyle/>
          <a:p>
            <a:pPr marL="0" indent="0" algn="just">
              <a:lnSpc>
                <a:spcPct val="150000"/>
              </a:lnSpc>
              <a:buNone/>
            </a:pPr>
            <a:r>
              <a:rPr lang="en-US" sz="1800" dirty="0">
                <a:latin typeface="Times New Roman" pitchFamily="18" charset="0"/>
                <a:cs typeface="Times New Roman" pitchFamily="18" charset="0"/>
              </a:rPr>
              <a:t>Secure Communication of message from sender to receiver is one of the main security concern of Internet users across world. It is because of the regular attacks and threats and most Important Data Privacy. In order to sort out these issues, we use cryptographic algorithm which encrypts data in some cipher and transfers it over the internet and again decrypted to original data.</a:t>
            </a:r>
          </a:p>
          <a:p>
            <a:pPr marL="0" indent="0" algn="just">
              <a:lnSpc>
                <a:spcPct val="150000"/>
              </a:lnSpc>
              <a:buNone/>
            </a:pPr>
            <a:r>
              <a:rPr lang="en-US" sz="1800" dirty="0">
                <a:latin typeface="Times New Roman" pitchFamily="18" charset="0"/>
                <a:cs typeface="Times New Roman" pitchFamily="18" charset="0"/>
              </a:rPr>
              <a:t>Thus, lightweight cryptography methods are proposed to overcome many of the problems of conventional cryptography Ciphers act as encapsulating system for message. Hybrid Algorithm will be formed from use of different types of ciphers.</a:t>
            </a:r>
          </a:p>
          <a:p>
            <a:pPr marL="0" indent="0" algn="just">
              <a:lnSpc>
                <a:spcPct val="150000"/>
              </a:lnSpc>
              <a:buNone/>
            </a:pPr>
            <a:r>
              <a:rPr lang="en-US" sz="1800" dirty="0">
                <a:latin typeface="Times New Roman" pitchFamily="18" charset="0"/>
                <a:cs typeface="Times New Roman" pitchFamily="18" charset="0"/>
              </a:rPr>
              <a:t>The cryptosystem performs its encryption by encrypting the plaintext using Vigenere Cipher and further again processing though Polybius Cipher.</a:t>
            </a:r>
            <a:endParaRPr lang="en-US" sz="1800" dirty="0"/>
          </a:p>
        </p:txBody>
      </p:sp>
    </p:spTree>
    <p:extLst>
      <p:ext uri="{BB962C8B-B14F-4D97-AF65-F5344CB8AC3E}">
        <p14:creationId xmlns:p14="http://schemas.microsoft.com/office/powerpoint/2010/main" val="1582823894"/>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w Cen MT (Headings)"/>
                <a:cs typeface="Times New Roman" panose="02020603050405020304" pitchFamily="18" charset="0"/>
              </a:rPr>
              <a:t>INTRODUCTION</a:t>
            </a:r>
            <a:endParaRPr lang="en-US">
              <a:latin typeface="Tw Cen MT (Headings)"/>
            </a:endParaRPr>
          </a:p>
        </p:txBody>
      </p:sp>
      <p:sp>
        <p:nvSpPr>
          <p:cNvPr id="3" name="Content Placeholder 2"/>
          <p:cNvSpPr>
            <a:spLocks noGrp="1"/>
          </p:cNvSpPr>
          <p:nvPr>
            <p:ph sz="quarter" idx="1"/>
          </p:nvPr>
        </p:nvSpPr>
        <p:spPr>
          <a:xfrm>
            <a:off x="533400" y="1600200"/>
            <a:ext cx="8382000" cy="4997152"/>
          </a:xfrm>
        </p:spPr>
        <p:txBody>
          <a:bodyPr>
            <a:noAutofit/>
          </a:bodyPr>
          <a:lstStyle/>
          <a:p>
            <a:pPr marL="0" indent="0" algn="just">
              <a:lnSpc>
                <a:spcPct val="150000"/>
              </a:lnSpc>
              <a:buNone/>
            </a:pPr>
            <a:r>
              <a:rPr lang="en-US" sz="1500" b="1" kern="100">
                <a:solidFill>
                  <a:srgbClr val="000000"/>
                </a:solidFill>
                <a:effectLst/>
                <a:latin typeface="Times New Roman" pitchFamily="18" charset="0"/>
                <a:ea typeface="Times New Roman" panose="02020603050405020304" pitchFamily="18" charset="0"/>
                <a:cs typeface="Times New Roman" pitchFamily="18" charset="0"/>
              </a:rPr>
              <a:t>                                                          </a:t>
            </a:r>
            <a:r>
              <a:rPr lang="en-IN" sz="1800" b="1" kern="100">
                <a:solidFill>
                  <a:srgbClr val="000000"/>
                </a:solidFill>
                <a:effectLst/>
                <a:latin typeface="Times New Roman" panose="02020603050405020304" pitchFamily="18" charset="0"/>
                <a:ea typeface="Times New Roman" panose="02020603050405020304" pitchFamily="18" charset="0"/>
              </a:rPr>
              <a:t>Cryptography Definition</a:t>
            </a:r>
          </a:p>
          <a:p>
            <a:pPr marL="0" indent="0" algn="just">
              <a:lnSpc>
                <a:spcPct val="150000"/>
              </a:lnSpc>
              <a:buNone/>
            </a:pPr>
            <a:r>
              <a:rPr lang="en-IN" sz="1800">
                <a:solidFill>
                  <a:srgbClr val="000000"/>
                </a:solidFill>
                <a:effectLst/>
                <a:latin typeface="Times New Roman" panose="02020603050405020304" pitchFamily="18" charset="0"/>
                <a:ea typeface="Times New Roman" panose="02020603050405020304" pitchFamily="18" charset="0"/>
              </a:rPr>
              <a:t>Cryptography is the science of protecting information by transforming it into a secure format. This process, called encryption, has been used for centuries to prevent handwritten messages from being read by unintended recipients.</a:t>
            </a:r>
          </a:p>
          <a:p>
            <a:pPr marL="0" indent="0" algn="just">
              <a:lnSpc>
                <a:spcPct val="150000"/>
              </a:lnSpc>
              <a:buNone/>
            </a:pPr>
            <a:r>
              <a:rPr lang="en-IN" sz="1800">
                <a:solidFill>
                  <a:srgbClr val="000000"/>
                </a:solidFill>
                <a:effectLst/>
                <a:latin typeface="Times New Roman" panose="02020603050405020304" pitchFamily="18" charset="0"/>
                <a:ea typeface="Times New Roman" panose="02020603050405020304" pitchFamily="18" charset="0"/>
              </a:rPr>
              <a:t>Today, cryptography is used to protect digital data. It is a division of computer science that focuses on transforming data into formats that cannot be recognized by unauthorized users.</a:t>
            </a:r>
            <a:endParaRPr lang="en-IN" sz="1800">
              <a:solidFill>
                <a:srgbClr val="000000"/>
              </a:solidFill>
              <a:latin typeface="Times New Roman" panose="02020603050405020304" pitchFamily="18" charset="0"/>
              <a:ea typeface="Times New Roman" panose="02020603050405020304" pitchFamily="18" charset="0"/>
            </a:endParaRPr>
          </a:p>
          <a:p>
            <a:pPr marL="0" indent="0" algn="just">
              <a:lnSpc>
                <a:spcPct val="150000"/>
              </a:lnSpc>
              <a:buNone/>
            </a:pPr>
            <a:r>
              <a:rPr lang="en-IN" sz="1800">
                <a:solidFill>
                  <a:srgbClr val="000000"/>
                </a:solidFill>
                <a:effectLst/>
                <a:latin typeface="Times New Roman" panose="02020603050405020304" pitchFamily="18" charset="0"/>
                <a:ea typeface="Times New Roman" panose="02020603050405020304" pitchFamily="18" charset="0"/>
              </a:rPr>
              <a:t>Two Types of Cryptography:</a:t>
            </a:r>
          </a:p>
          <a:p>
            <a:pPr marL="0" indent="0" algn="just">
              <a:lnSpc>
                <a:spcPct val="150000"/>
              </a:lnSpc>
              <a:buNone/>
            </a:pPr>
            <a:r>
              <a:rPr lang="en-IN" sz="1800">
                <a:solidFill>
                  <a:srgbClr val="000000"/>
                </a:solidFill>
                <a:effectLst/>
                <a:latin typeface="Times New Roman" panose="02020603050405020304" pitchFamily="18" charset="0"/>
                <a:ea typeface="Times New Roman" panose="02020603050405020304" pitchFamily="18" charset="0"/>
              </a:rPr>
              <a:t>    Symmetric Cryptography</a:t>
            </a:r>
          </a:p>
          <a:p>
            <a:pPr marL="0" indent="0" algn="just">
              <a:lnSpc>
                <a:spcPct val="150000"/>
              </a:lnSpc>
              <a:buNone/>
            </a:pPr>
            <a:r>
              <a:rPr lang="en-IN" sz="1800">
                <a:solidFill>
                  <a:srgbClr val="000000"/>
                </a:solidFill>
                <a:effectLst/>
                <a:latin typeface="Times New Roman" panose="02020603050405020304" pitchFamily="18" charset="0"/>
                <a:ea typeface="Times New Roman" panose="02020603050405020304" pitchFamily="18" charset="0"/>
              </a:rPr>
              <a:t>    Asymmetric Cryptography</a:t>
            </a:r>
            <a:endParaRPr lang="en-IN" sz="1800" b="1" kern="100">
              <a:solidFill>
                <a:srgbClr val="000000"/>
              </a:solidFill>
              <a:effectLst/>
              <a:latin typeface="Times New Roman" panose="02020603050405020304" pitchFamily="18" charset="0"/>
              <a:ea typeface="Times New Roman" panose="02020603050405020304" pitchFamily="18" charset="0"/>
            </a:endParaRPr>
          </a:p>
          <a:p>
            <a:pPr algn="just">
              <a:lnSpc>
                <a:spcPct val="150000"/>
              </a:lnSpc>
              <a:buFont typeface="Wingdings" pitchFamily="2" charset="2"/>
              <a:buChar char="q"/>
            </a:pPr>
            <a:endParaRPr lang="en-US" sz="1500">
              <a:latin typeface="Times New Roman" pitchFamily="18" charset="0"/>
              <a:cs typeface="Times New Roman" pitchFamily="18" charset="0"/>
            </a:endParaRPr>
          </a:p>
          <a:p>
            <a:pPr marL="0" indent="0" algn="just">
              <a:lnSpc>
                <a:spcPct val="150000"/>
              </a:lnSpc>
              <a:buNone/>
            </a:pPr>
            <a:endParaRPr lang="en-US" sz="1800">
              <a:latin typeface="Times New Roman" pitchFamily="18" charset="0"/>
              <a:cs typeface="Times New Roman" pitchFamily="18" charset="0"/>
            </a:endParaRPr>
          </a:p>
          <a:p>
            <a:pPr>
              <a:buFont typeface="Wingdings" pitchFamily="2" charset="2"/>
              <a:buChar char="q"/>
            </a:pPr>
            <a:endParaRPr lang="en-US" sz="1800"/>
          </a:p>
        </p:txBody>
      </p:sp>
    </p:spTree>
    <p:extLst>
      <p:ext uri="{BB962C8B-B14F-4D97-AF65-F5344CB8AC3E}">
        <p14:creationId xmlns:p14="http://schemas.microsoft.com/office/powerpoint/2010/main" val="2712522348"/>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w Cen MT (Headings)"/>
                <a:cs typeface="Times New Roman" panose="02020603050405020304" pitchFamily="18" charset="0"/>
              </a:rPr>
              <a:t>PROBLEM STATEMENT</a:t>
            </a:r>
            <a:endParaRPr lang="en-US">
              <a:latin typeface="Tw Cen MT (Headings)"/>
            </a:endParaRPr>
          </a:p>
        </p:txBody>
      </p:sp>
      <p:sp>
        <p:nvSpPr>
          <p:cNvPr id="3" name="Content Placeholder 2"/>
          <p:cNvSpPr>
            <a:spLocks noGrp="1"/>
          </p:cNvSpPr>
          <p:nvPr>
            <p:ph sz="quarter" idx="1"/>
          </p:nvPr>
        </p:nvSpPr>
        <p:spPr/>
        <p:txBody>
          <a:bodyPr>
            <a:normAutofit/>
          </a:bodyPr>
          <a:lstStyle/>
          <a:p>
            <a:pPr marL="0" indent="0" algn="just">
              <a:lnSpc>
                <a:spcPct val="150000"/>
              </a:lnSpc>
              <a:buNone/>
            </a:pPr>
            <a:r>
              <a:rPr lang="en-US" sz="1800" dirty="0">
                <a:latin typeface="Times New Roman" pitchFamily="18" charset="0"/>
                <a:cs typeface="Times New Roman" pitchFamily="18" charset="0"/>
              </a:rPr>
              <a:t>     This project is all about creating a better solution for encryption by developing a Super Cipher Cryptography System that combines two methods: the Vigenère Cipher and the Polybius Cipher. The Vigenère Cipher offers a clever way to encrypt messages by using a series of different alphabets, which makes it harder for attackers to decipher. However, it has its flaws, especially when short keys are used, making it easier for  determined to break the code. On the other hand, the Polybius Cipher uses a simple grid to encode letters, which is easy to understand but can be cracked if someone knows the grid pattern..</a:t>
            </a:r>
            <a:endParaRPr lang="en-IN" sz="1800" dirty="0">
              <a:latin typeface="Times New Roman" pitchFamily="18" charset="0"/>
              <a:cs typeface="Times New Roman" pitchFamily="18" charset="0"/>
            </a:endParaRPr>
          </a:p>
          <a:p>
            <a:pPr algn="just"/>
            <a:endParaRPr lang="en-US" sz="1800" dirty="0"/>
          </a:p>
        </p:txBody>
      </p:sp>
    </p:spTree>
    <p:extLst>
      <p:ext uri="{BB962C8B-B14F-4D97-AF65-F5344CB8AC3E}">
        <p14:creationId xmlns:p14="http://schemas.microsoft.com/office/powerpoint/2010/main" val="260814948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cs typeface="Times New Roman" panose="02020603050405020304" pitchFamily="18" charset="0"/>
              </a:rPr>
              <a:t>EXISTING SYSTEM</a:t>
            </a:r>
            <a:endParaRPr lang="en-US"/>
          </a:p>
        </p:txBody>
      </p:sp>
      <p:sp>
        <p:nvSpPr>
          <p:cNvPr id="3" name="Content Placeholder 2"/>
          <p:cNvSpPr>
            <a:spLocks noGrp="1"/>
          </p:cNvSpPr>
          <p:nvPr>
            <p:ph sz="quarter" idx="1"/>
          </p:nvPr>
        </p:nvSpPr>
        <p:spPr/>
        <p:txBody>
          <a:bodyPr vert="horz" lIns="91440" tIns="45720" rIns="91440" bIns="45720" anchor="t">
            <a:normAutofit/>
          </a:bodyPr>
          <a:lstStyle/>
          <a:p>
            <a:pPr marL="0" indent="0" algn="just">
              <a:lnSpc>
                <a:spcPct val="150000"/>
              </a:lnSpc>
              <a:buNone/>
            </a:pPr>
            <a:r>
              <a:rPr lang="en-US" sz="1800" dirty="0">
                <a:latin typeface="Times New Roman"/>
                <a:cs typeface="Times New Roman"/>
              </a:rPr>
              <a:t>Existing system is based on  individual algorithms like the Vigenere Cipher or the Polybius Cipher for encrypting data. The Vigenere Cipher, known for its use of a key to create a polyalphabetic substitution pattern, adds a layer of complexity to basic ciphers. </a:t>
            </a:r>
            <a:endParaRPr lang="en-US" dirty="0"/>
          </a:p>
          <a:p>
            <a:pPr marL="0" indent="0" algn="just">
              <a:lnSpc>
                <a:spcPct val="150000"/>
              </a:lnSpc>
              <a:buNone/>
            </a:pPr>
            <a:r>
              <a:rPr lang="en-US" sz="1800" dirty="0">
                <a:latin typeface="Times New Roman"/>
                <a:cs typeface="Times New Roman"/>
              </a:rPr>
              <a:t>It can still be cracked using techniques like frequency analysis or key guessing, especially when the key is predictable or short. Meanwhile, the Polybius Cipher works by using a simple grid system to substitute letters with pairs of coordinates. Although easy to implement, it offers limited security in today’s world of advanced cyber threats.</a:t>
            </a:r>
            <a:endParaRPr lang="en-US" dirty="0"/>
          </a:p>
          <a:p>
            <a:endParaRPr lang="en-US" dirty="0"/>
          </a:p>
        </p:txBody>
      </p:sp>
    </p:spTree>
    <p:extLst>
      <p:ext uri="{BB962C8B-B14F-4D97-AF65-F5344CB8AC3E}">
        <p14:creationId xmlns:p14="http://schemas.microsoft.com/office/powerpoint/2010/main" val="1903410958"/>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 </a:t>
            </a:r>
            <a:r>
              <a:rPr lang="en-US">
                <a:cs typeface="Times New Roman" panose="02020603050405020304" pitchFamily="18" charset="0"/>
              </a:rPr>
              <a:t>PROPOSED SYSTEM</a:t>
            </a:r>
            <a:endParaRPr lang="en-US"/>
          </a:p>
        </p:txBody>
      </p:sp>
      <p:sp>
        <p:nvSpPr>
          <p:cNvPr id="5" name="Rectangle 2">
            <a:extLst>
              <a:ext uri="{FF2B5EF4-FFF2-40B4-BE49-F238E27FC236}">
                <a16:creationId xmlns:a16="http://schemas.microsoft.com/office/drawing/2014/main" id="{949AB04F-C3EE-06BE-46E2-6D64FE06CDB1}"/>
              </a:ext>
            </a:extLst>
          </p:cNvPr>
          <p:cNvSpPr>
            <a:spLocks noGrp="1" noChangeArrowheads="1"/>
          </p:cNvSpPr>
          <p:nvPr>
            <p:ph sz="quarter" idx="1"/>
          </p:nvPr>
        </p:nvSpPr>
        <p:spPr bwMode="auto">
          <a:xfrm>
            <a:off x="532836" y="1904102"/>
            <a:ext cx="7898782" cy="4474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method employs both the Vigenère Cipher and the Polybius Square Cipher in its encryption process. Initially, the plaintext is encrypted using the Vigenère Cipher, where a randomly chosen key initiates the process. The resulting ciphertext from this stage then serves as the input for the Polybius Square Cipher, further encoding the message.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dual-layer encryption approach enhances security by making the final ciphertext more challenging to decipher using existing cryptanalysis techniques. To demonstrate the effectiveness of this algorithm, a software program will be developed using the Python programming language, and cryptanalysis will be performed on the generated ciphertext to evaluate its robustness.</a:t>
            </a:r>
          </a:p>
        </p:txBody>
      </p:sp>
    </p:spTree>
    <p:extLst>
      <p:ext uri="{BB962C8B-B14F-4D97-AF65-F5344CB8AC3E}">
        <p14:creationId xmlns:p14="http://schemas.microsoft.com/office/powerpoint/2010/main" val="443906532"/>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cs typeface="Times New Roman" panose="02020603050405020304" pitchFamily="18" charset="0"/>
              </a:rPr>
              <a:t>ARCHITECTURE</a:t>
            </a:r>
          </a:p>
        </p:txBody>
      </p:sp>
      <p:sp>
        <p:nvSpPr>
          <p:cNvPr id="7" name="AutoShape 6" descr="Basic concepts of encryption in cryptography">
            <a:extLst>
              <a:ext uri="{FF2B5EF4-FFF2-40B4-BE49-F238E27FC236}">
                <a16:creationId xmlns:a16="http://schemas.microsoft.com/office/drawing/2014/main" id="{83894883-860A-4DCC-44E8-D23EF9A98FCC}"/>
              </a:ext>
            </a:extLst>
          </p:cNvPr>
          <p:cNvSpPr>
            <a:spLocks noGrp="1" noChangeAspect="1" noChangeArrowheads="1"/>
          </p:cNvSpPr>
          <p:nvPr>
            <p:ph sz="quarter" idx="1"/>
          </p:nvPr>
        </p:nvSpPr>
        <p:spPr bwMode="auto">
          <a:xfrm flipH="1">
            <a:off x="8455947" y="7005097"/>
            <a:ext cx="182656" cy="1007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25000" lnSpcReduction="20000"/>
          </a:bodyPr>
          <a:lstStyle/>
          <a:p>
            <a:endParaRPr lang="en-IN"/>
          </a:p>
        </p:txBody>
      </p:sp>
      <p:pic>
        <p:nvPicPr>
          <p:cNvPr id="3" name="Picture 2">
            <a:extLst>
              <a:ext uri="{FF2B5EF4-FFF2-40B4-BE49-F238E27FC236}">
                <a16:creationId xmlns:a16="http://schemas.microsoft.com/office/drawing/2014/main" id="{A25669C0-092D-DDAB-E906-CED0F00AD4A3}"/>
              </a:ext>
            </a:extLst>
          </p:cNvPr>
          <p:cNvPicPr/>
          <p:nvPr/>
        </p:nvPicPr>
        <p:blipFill>
          <a:blip r:embed="rId2"/>
          <a:stretch>
            <a:fillRect/>
          </a:stretch>
        </p:blipFill>
        <p:spPr>
          <a:xfrm>
            <a:off x="403098" y="1683357"/>
            <a:ext cx="8572500" cy="4191000"/>
          </a:xfrm>
          <a:prstGeom prst="rect">
            <a:avLst/>
          </a:prstGeom>
        </p:spPr>
      </p:pic>
    </p:spTree>
    <p:extLst>
      <p:ext uri="{BB962C8B-B14F-4D97-AF65-F5344CB8AC3E}">
        <p14:creationId xmlns:p14="http://schemas.microsoft.com/office/powerpoint/2010/main" val="1655416511"/>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t>WORK FLOW</a:t>
            </a:r>
          </a:p>
        </p:txBody>
      </p:sp>
      <p:pic>
        <p:nvPicPr>
          <p:cNvPr id="6" name="Picture 5">
            <a:extLst>
              <a:ext uri="{FF2B5EF4-FFF2-40B4-BE49-F238E27FC236}">
                <a16:creationId xmlns:a16="http://schemas.microsoft.com/office/drawing/2014/main" id="{BEF9FB98-B7C9-3920-476C-A69A6FAFF3CB}"/>
              </a:ext>
            </a:extLst>
          </p:cNvPr>
          <p:cNvPicPr/>
          <p:nvPr/>
        </p:nvPicPr>
        <p:blipFill>
          <a:blip r:embed="rId2"/>
          <a:stretch>
            <a:fillRect/>
          </a:stretch>
        </p:blipFill>
        <p:spPr>
          <a:xfrm>
            <a:off x="2051464" y="1752600"/>
            <a:ext cx="5152390" cy="4876800"/>
          </a:xfrm>
          <a:prstGeom prst="rect">
            <a:avLst/>
          </a:prstGeom>
        </p:spPr>
      </p:pic>
    </p:spTree>
    <p:extLst>
      <p:ext uri="{BB962C8B-B14F-4D97-AF65-F5344CB8AC3E}">
        <p14:creationId xmlns:p14="http://schemas.microsoft.com/office/powerpoint/2010/main" val="53099267"/>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HARDWARE REQUIREMENTS</a:t>
            </a:r>
            <a:endParaRPr lang="en-IN"/>
          </a:p>
        </p:txBody>
      </p:sp>
      <p:sp>
        <p:nvSpPr>
          <p:cNvPr id="3" name="Content Placeholder 2"/>
          <p:cNvSpPr>
            <a:spLocks noGrp="1"/>
          </p:cNvSpPr>
          <p:nvPr>
            <p:ph sz="quarter" idx="1"/>
          </p:nvPr>
        </p:nvSpPr>
        <p:spPr/>
        <p:txBody>
          <a:bodyPr>
            <a:normAutofit/>
          </a:bodyPr>
          <a:lstStyle/>
          <a:p>
            <a:pPr algn="just">
              <a:lnSpc>
                <a:spcPct val="150000"/>
              </a:lnSpc>
              <a:buFont typeface="Wingdings" pitchFamily="2" charset="2"/>
              <a:buChar char="q"/>
            </a:pPr>
            <a:r>
              <a:rPr lang="en-IN" sz="1800">
                <a:latin typeface="Times New Roman" panose="02020603050405020304" pitchFamily="18" charset="0"/>
                <a:ea typeface="Times New Roman" panose="02020603050405020304" pitchFamily="18" charset="0"/>
                <a:cs typeface="Times New Roman" panose="02020603050405020304" pitchFamily="18" charset="0"/>
              </a:rPr>
              <a:t>Processor            	   :  Intel-5 Processor</a:t>
            </a:r>
            <a:endParaRPr lang="en-IN" sz="1800" b="1">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buFont typeface="Wingdings" pitchFamily="2" charset="2"/>
              <a:buChar char="q"/>
            </a:pPr>
            <a:r>
              <a:rPr lang="en-IN" sz="1800">
                <a:latin typeface="Times New Roman" panose="02020603050405020304" pitchFamily="18" charset="0"/>
                <a:ea typeface="Times New Roman" panose="02020603050405020304" pitchFamily="18" charset="0"/>
                <a:cs typeface="Times New Roman" panose="02020603050405020304" pitchFamily="18" charset="0"/>
              </a:rPr>
              <a:t>RAM                                    :  4GB (min)</a:t>
            </a:r>
            <a:endParaRPr lang="en-IN" sz="1800" b="1">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buFont typeface="Wingdings" pitchFamily="2" charset="2"/>
              <a:buChar char="q"/>
            </a:pPr>
            <a:r>
              <a:rPr lang="en-IN" sz="1800">
                <a:latin typeface="Times New Roman" panose="02020603050405020304" pitchFamily="18" charset="0"/>
                <a:ea typeface="Calibri" panose="020F0502020204030204" pitchFamily="34" charset="0"/>
                <a:cs typeface="Times New Roman" panose="02020603050405020304" pitchFamily="18" charset="0"/>
              </a:rPr>
              <a:t>Hard Disk                             :  128 GB</a:t>
            </a:r>
          </a:p>
          <a:p>
            <a:pPr algn="just">
              <a:lnSpc>
                <a:spcPct val="150000"/>
              </a:lnSpc>
              <a:buFont typeface="Wingdings" pitchFamily="2" charset="2"/>
              <a:buChar char="q"/>
            </a:pPr>
            <a:r>
              <a:rPr lang="en-US" sz="1800">
                <a:latin typeface="Times New Roman" panose="02020603050405020304" pitchFamily="18" charset="0"/>
                <a:cs typeface="Times New Roman" panose="02020603050405020304" pitchFamily="18" charset="0"/>
              </a:rPr>
              <a:t>Key Board                            :   Normal</a:t>
            </a:r>
          </a:p>
          <a:p>
            <a:pPr algn="just">
              <a:lnSpc>
                <a:spcPct val="150000"/>
              </a:lnSpc>
              <a:buFont typeface="Wingdings" pitchFamily="2" charset="2"/>
              <a:buChar char="q"/>
            </a:pPr>
            <a:r>
              <a:rPr lang="en-US" sz="1800">
                <a:latin typeface="Times New Roman" panose="02020603050405020304" pitchFamily="18" charset="0"/>
                <a:cs typeface="Times New Roman" panose="02020603050405020304" pitchFamily="18" charset="0"/>
              </a:rPr>
              <a:t>Mouse                                   :  Compatible Mouse </a:t>
            </a:r>
          </a:p>
          <a:p>
            <a:pPr>
              <a:buFont typeface="Wingdings" pitchFamily="2" charset="2"/>
              <a:buChar char="q"/>
            </a:pPr>
            <a:endParaRPr lang="en-US" sz="1800"/>
          </a:p>
          <a:p>
            <a:pPr>
              <a:buFont typeface="Wingdings" pitchFamily="2" charset="2"/>
              <a:buChar char="q"/>
            </a:pPr>
            <a:endParaRPr lang="en-IN" sz="1800"/>
          </a:p>
        </p:txBody>
      </p:sp>
    </p:spTree>
    <p:extLst>
      <p:ext uri="{BB962C8B-B14F-4D97-AF65-F5344CB8AC3E}">
        <p14:creationId xmlns:p14="http://schemas.microsoft.com/office/powerpoint/2010/main" val="3836571039"/>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cs typeface="Times New Roman" panose="02020603050405020304" pitchFamily="18" charset="0"/>
              </a:rPr>
              <a:t>SOFTWARE REQUIREMENTS</a:t>
            </a:r>
            <a:endParaRPr lang="en-US"/>
          </a:p>
        </p:txBody>
      </p:sp>
      <p:sp>
        <p:nvSpPr>
          <p:cNvPr id="3" name="Content Placeholder 2"/>
          <p:cNvSpPr>
            <a:spLocks noGrp="1"/>
          </p:cNvSpPr>
          <p:nvPr>
            <p:ph sz="quarter" idx="1"/>
          </p:nvPr>
        </p:nvSpPr>
        <p:spPr>
          <a:xfrm>
            <a:off x="533400" y="1600200"/>
            <a:ext cx="8153400" cy="4495800"/>
          </a:xfrm>
        </p:spPr>
        <p:txBody>
          <a:bodyPr vert="horz" lIns="91440" tIns="45720" rIns="91440" bIns="45720" anchor="t">
            <a:normAutofit/>
          </a:bodyPr>
          <a:lstStyle/>
          <a:p>
            <a:pPr lvl="0" algn="just">
              <a:lnSpc>
                <a:spcPct val="150000"/>
              </a:lnSpc>
              <a:buFont typeface="Wingdings" pitchFamily="2" charset="2"/>
              <a:buChar char="q"/>
            </a:pPr>
            <a:r>
              <a:rPr lang="en-US" sz="1800" dirty="0">
                <a:latin typeface="Times New Roman"/>
                <a:ea typeface="Times New Roman" panose="02020603050405020304" pitchFamily="18" charset="0"/>
                <a:cs typeface="Times New Roman"/>
              </a:rPr>
              <a:t>Operating System	                                   : Windows 7 and Above.</a:t>
            </a:r>
          </a:p>
          <a:p>
            <a:pPr lvl="0" algn="just">
              <a:lnSpc>
                <a:spcPct val="150000"/>
              </a:lnSpc>
              <a:buFont typeface="Wingdings" pitchFamily="2" charset="2"/>
              <a:buChar char="q"/>
            </a:pPr>
            <a:r>
              <a:rPr lang="en-US" sz="1800" dirty="0">
                <a:latin typeface="Times New Roman"/>
                <a:ea typeface="Times New Roman" panose="02020603050405020304" pitchFamily="18" charset="0"/>
                <a:cs typeface="Times New Roman"/>
              </a:rPr>
              <a:t>Software		                                   : Python 3.6</a:t>
            </a:r>
            <a:endParaRPr lang="en-IN" sz="1800" dirty="0">
              <a:latin typeface="Times New Roman"/>
              <a:ea typeface="Times New Roman" panose="02020603050405020304" pitchFamily="18" charset="0"/>
              <a:cs typeface="Times New Roman"/>
            </a:endParaRPr>
          </a:p>
          <a:p>
            <a:pPr algn="just">
              <a:lnSpc>
                <a:spcPct val="150000"/>
              </a:lnSpc>
              <a:buFont typeface="Wingdings" pitchFamily="2" charset="2"/>
              <a:buChar char="q"/>
            </a:pPr>
            <a:r>
              <a:rPr lang="en-US" sz="1800" dirty="0">
                <a:latin typeface="Times New Roman"/>
                <a:ea typeface="Times New Roman" panose="02020603050405020304" pitchFamily="18" charset="0"/>
                <a:cs typeface="Times New Roman"/>
              </a:rPr>
              <a:t>Integrated Development Learning Environment : vs code   </a:t>
            </a:r>
            <a:endParaRPr lang="en-IN" sz="1800" dirty="0">
              <a:latin typeface="Times New Roman"/>
              <a:ea typeface="Times New Roman" panose="02020603050405020304" pitchFamily="18" charset="0"/>
              <a:cs typeface="Times New Roman" panose="02020603050405020304" pitchFamily="18" charset="0"/>
            </a:endParaRPr>
          </a:p>
          <a:p>
            <a:pPr lvl="0" algn="just">
              <a:lnSpc>
                <a:spcPct val="150000"/>
              </a:lnSpc>
              <a:buFont typeface="Wingdings" pitchFamily="2" charset="2"/>
              <a:buChar char="q"/>
            </a:pPr>
            <a:r>
              <a:rPr lang="en-US" sz="1800" dirty="0">
                <a:latin typeface="Times New Roman"/>
                <a:ea typeface="Times New Roman" panose="02020603050405020304" pitchFamily="18" charset="0"/>
                <a:cs typeface="Times New Roman"/>
              </a:rPr>
              <a:t>Integrated Development Environment                 : vs code</a:t>
            </a:r>
            <a:endParaRPr lang="en-IN" sz="1800" dirty="0">
              <a:latin typeface="Times New Roman"/>
              <a:ea typeface="Times New Roman" panose="02020603050405020304" pitchFamily="18" charset="0"/>
              <a:cs typeface="Times New Roman"/>
            </a:endParaRPr>
          </a:p>
          <a:p>
            <a:pPr>
              <a:buFont typeface="Wingdings" pitchFamily="2" charset="2"/>
              <a:buChar char="q"/>
            </a:pPr>
            <a:endParaRPr lang="en-US" sz="1800" dirty="0"/>
          </a:p>
        </p:txBody>
      </p:sp>
    </p:spTree>
    <p:extLst>
      <p:ext uri="{BB962C8B-B14F-4D97-AF65-F5344CB8AC3E}">
        <p14:creationId xmlns:p14="http://schemas.microsoft.com/office/powerpoint/2010/main" val="1523708175"/>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61A9-0761-257D-44B9-D5B13CA4977E}"/>
              </a:ext>
            </a:extLst>
          </p:cNvPr>
          <p:cNvSpPr>
            <a:spLocks noGrp="1"/>
          </p:cNvSpPr>
          <p:nvPr>
            <p:ph type="title"/>
          </p:nvPr>
        </p:nvSpPr>
        <p:spPr>
          <a:xfrm>
            <a:off x="612648" y="266700"/>
            <a:ext cx="8153400" cy="990600"/>
          </a:xfrm>
        </p:spPr>
        <p:txBody>
          <a:bodyPr/>
          <a:lstStyle/>
          <a:p>
            <a:r>
              <a:rPr lang="en-US" dirty="0"/>
              <a:t>UML Diagrams</a:t>
            </a:r>
          </a:p>
        </p:txBody>
      </p:sp>
      <p:sp>
        <p:nvSpPr>
          <p:cNvPr id="3" name="Content Placeholder 2">
            <a:extLst>
              <a:ext uri="{FF2B5EF4-FFF2-40B4-BE49-F238E27FC236}">
                <a16:creationId xmlns:a16="http://schemas.microsoft.com/office/drawing/2014/main" id="{1A6A8F9C-E2FB-F1B7-E6B0-EB341209BF40}"/>
              </a:ext>
            </a:extLst>
          </p:cNvPr>
          <p:cNvSpPr>
            <a:spLocks noGrp="1"/>
          </p:cNvSpPr>
          <p:nvPr>
            <p:ph sz="quarter" idx="1"/>
          </p:nvPr>
        </p:nvSpPr>
        <p:spPr/>
        <p:txBody>
          <a:bodyPr/>
          <a:lstStyle/>
          <a:p>
            <a:pPr marL="0" indent="0">
              <a:buNone/>
            </a:pPr>
            <a:r>
              <a:rPr lang="en-US" dirty="0"/>
              <a:t>Use Case Diagram</a:t>
            </a:r>
          </a:p>
          <a:p>
            <a:endParaRPr lang="en-US" dirty="0"/>
          </a:p>
        </p:txBody>
      </p:sp>
      <p:pic>
        <p:nvPicPr>
          <p:cNvPr id="4" name="Picture 3">
            <a:extLst>
              <a:ext uri="{FF2B5EF4-FFF2-40B4-BE49-F238E27FC236}">
                <a16:creationId xmlns:a16="http://schemas.microsoft.com/office/drawing/2014/main" id="{1D25333B-94B2-3F83-880C-0C4B692AC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571" y="2374900"/>
            <a:ext cx="6386286" cy="4064000"/>
          </a:xfrm>
          <a:prstGeom prst="rect">
            <a:avLst/>
          </a:prstGeom>
        </p:spPr>
      </p:pic>
    </p:spTree>
    <p:extLst>
      <p:ext uri="{BB962C8B-B14F-4D97-AF65-F5344CB8AC3E}">
        <p14:creationId xmlns:p14="http://schemas.microsoft.com/office/powerpoint/2010/main" val="3036682290"/>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A4818-BA01-0CA9-0B36-FE496AEB7169}"/>
              </a:ext>
            </a:extLst>
          </p:cNvPr>
          <p:cNvSpPr>
            <a:spLocks noGrp="1"/>
          </p:cNvSpPr>
          <p:nvPr>
            <p:ph type="title"/>
          </p:nvPr>
        </p:nvSpPr>
        <p:spPr/>
        <p:txBody>
          <a:bodyPr/>
          <a:lstStyle/>
          <a:p>
            <a:r>
              <a:rPr lang="en-US" dirty="0"/>
              <a:t>UML Diagrams</a:t>
            </a:r>
          </a:p>
        </p:txBody>
      </p:sp>
      <p:sp>
        <p:nvSpPr>
          <p:cNvPr id="3" name="Content Placeholder 2">
            <a:extLst>
              <a:ext uri="{FF2B5EF4-FFF2-40B4-BE49-F238E27FC236}">
                <a16:creationId xmlns:a16="http://schemas.microsoft.com/office/drawing/2014/main" id="{884A5D44-BB7F-E222-107E-75E4BEA2EA0A}"/>
              </a:ext>
            </a:extLst>
          </p:cNvPr>
          <p:cNvSpPr>
            <a:spLocks noGrp="1"/>
          </p:cNvSpPr>
          <p:nvPr>
            <p:ph sz="quarter" idx="1"/>
          </p:nvPr>
        </p:nvSpPr>
        <p:spPr/>
        <p:txBody>
          <a:bodyPr/>
          <a:lstStyle/>
          <a:p>
            <a:pPr marL="0" indent="0">
              <a:buNone/>
            </a:pPr>
            <a:r>
              <a:rPr lang="en-US" dirty="0"/>
              <a:t>Class Diagram</a:t>
            </a:r>
          </a:p>
          <a:p>
            <a:endParaRPr lang="en-US" dirty="0"/>
          </a:p>
        </p:txBody>
      </p:sp>
      <p:pic>
        <p:nvPicPr>
          <p:cNvPr id="4" name="Picture 3">
            <a:extLst>
              <a:ext uri="{FF2B5EF4-FFF2-40B4-BE49-F238E27FC236}">
                <a16:creationId xmlns:a16="http://schemas.microsoft.com/office/drawing/2014/main" id="{45AFCC68-7459-0390-A73C-63C34BDB2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143" y="2519693"/>
            <a:ext cx="6096000" cy="3451471"/>
          </a:xfrm>
          <a:prstGeom prst="rect">
            <a:avLst/>
          </a:prstGeom>
        </p:spPr>
      </p:pic>
    </p:spTree>
    <p:extLst>
      <p:ext uri="{BB962C8B-B14F-4D97-AF65-F5344CB8AC3E}">
        <p14:creationId xmlns:p14="http://schemas.microsoft.com/office/powerpoint/2010/main" val="4263337475"/>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700C-12F9-9F79-5D80-C749CE910025}"/>
              </a:ext>
            </a:extLst>
          </p:cNvPr>
          <p:cNvSpPr>
            <a:spLocks noGrp="1"/>
          </p:cNvSpPr>
          <p:nvPr>
            <p:ph type="title"/>
          </p:nvPr>
        </p:nvSpPr>
        <p:spPr/>
        <p:txBody>
          <a:bodyPr/>
          <a:lstStyle/>
          <a:p>
            <a:r>
              <a:rPr lang="en-US" dirty="0"/>
              <a:t>UML Diagrams</a:t>
            </a:r>
          </a:p>
        </p:txBody>
      </p:sp>
      <p:sp>
        <p:nvSpPr>
          <p:cNvPr id="3" name="Content Placeholder 2">
            <a:extLst>
              <a:ext uri="{FF2B5EF4-FFF2-40B4-BE49-F238E27FC236}">
                <a16:creationId xmlns:a16="http://schemas.microsoft.com/office/drawing/2014/main" id="{86E63A07-0BA1-DC72-B72B-8B007F9EA208}"/>
              </a:ext>
            </a:extLst>
          </p:cNvPr>
          <p:cNvSpPr>
            <a:spLocks noGrp="1"/>
          </p:cNvSpPr>
          <p:nvPr>
            <p:ph sz="quarter" idx="1"/>
          </p:nvPr>
        </p:nvSpPr>
        <p:spPr/>
        <p:txBody>
          <a:bodyPr/>
          <a:lstStyle/>
          <a:p>
            <a:pPr marL="0" indent="0">
              <a:buNone/>
            </a:pPr>
            <a:r>
              <a:rPr lang="en-US" dirty="0"/>
              <a:t>Sequence Diagram</a:t>
            </a:r>
          </a:p>
          <a:p>
            <a:endParaRPr lang="en-US" dirty="0"/>
          </a:p>
        </p:txBody>
      </p:sp>
      <p:pic>
        <p:nvPicPr>
          <p:cNvPr id="4" name="Picture 3">
            <a:extLst>
              <a:ext uri="{FF2B5EF4-FFF2-40B4-BE49-F238E27FC236}">
                <a16:creationId xmlns:a16="http://schemas.microsoft.com/office/drawing/2014/main" id="{ADE7D1F8-DFDC-8FAF-CD7B-9EA3700BCE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31571"/>
            <a:ext cx="3825367" cy="4064000"/>
          </a:xfrm>
          <a:prstGeom prst="rect">
            <a:avLst/>
          </a:prstGeom>
        </p:spPr>
      </p:pic>
      <p:pic>
        <p:nvPicPr>
          <p:cNvPr id="5" name="Picture 4">
            <a:extLst>
              <a:ext uri="{FF2B5EF4-FFF2-40B4-BE49-F238E27FC236}">
                <a16:creationId xmlns:a16="http://schemas.microsoft.com/office/drawing/2014/main" id="{F559956C-7CA3-EF2A-D19A-86926ACABF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7692" y="2074333"/>
            <a:ext cx="4998356" cy="4555067"/>
          </a:xfrm>
          <a:prstGeom prst="rect">
            <a:avLst/>
          </a:prstGeom>
        </p:spPr>
      </p:pic>
    </p:spTree>
    <p:extLst>
      <p:ext uri="{BB962C8B-B14F-4D97-AF65-F5344CB8AC3E}">
        <p14:creationId xmlns:p14="http://schemas.microsoft.com/office/powerpoint/2010/main" val="3261857024"/>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2CFF-1BCA-1833-1A77-07CA97D3C72D}"/>
              </a:ext>
            </a:extLst>
          </p:cNvPr>
          <p:cNvSpPr>
            <a:spLocks noGrp="1"/>
          </p:cNvSpPr>
          <p:nvPr>
            <p:ph type="title"/>
          </p:nvPr>
        </p:nvSpPr>
        <p:spPr>
          <a:xfrm>
            <a:off x="612648" y="266700"/>
            <a:ext cx="8153400" cy="990600"/>
          </a:xfrm>
        </p:spPr>
        <p:txBody>
          <a:bodyPr/>
          <a:lstStyle/>
          <a:p>
            <a:r>
              <a:rPr lang="en-US" dirty="0"/>
              <a:t>UML Diagrams</a:t>
            </a:r>
          </a:p>
        </p:txBody>
      </p:sp>
      <p:sp>
        <p:nvSpPr>
          <p:cNvPr id="3" name="Content Placeholder 2">
            <a:extLst>
              <a:ext uri="{FF2B5EF4-FFF2-40B4-BE49-F238E27FC236}">
                <a16:creationId xmlns:a16="http://schemas.microsoft.com/office/drawing/2014/main" id="{DB1F6674-537E-9432-9C1B-6DEFFD80DBF6}"/>
              </a:ext>
            </a:extLst>
          </p:cNvPr>
          <p:cNvSpPr>
            <a:spLocks noGrp="1"/>
          </p:cNvSpPr>
          <p:nvPr>
            <p:ph sz="quarter" idx="1"/>
          </p:nvPr>
        </p:nvSpPr>
        <p:spPr/>
        <p:txBody>
          <a:bodyPr/>
          <a:lstStyle/>
          <a:p>
            <a:pPr marL="0" indent="0">
              <a:buNone/>
            </a:pPr>
            <a:r>
              <a:rPr lang="en-US" dirty="0"/>
              <a:t>Activity Diagram</a:t>
            </a:r>
          </a:p>
          <a:p>
            <a:endParaRPr lang="en-US" dirty="0"/>
          </a:p>
        </p:txBody>
      </p:sp>
      <p:pic>
        <p:nvPicPr>
          <p:cNvPr id="4" name="Picture 3">
            <a:extLst>
              <a:ext uri="{FF2B5EF4-FFF2-40B4-BE49-F238E27FC236}">
                <a16:creationId xmlns:a16="http://schemas.microsoft.com/office/drawing/2014/main" id="{3ACFFED4-0CAE-724B-EA58-541BC994A3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8006" y="2009848"/>
            <a:ext cx="5188856" cy="4635501"/>
          </a:xfrm>
          <a:prstGeom prst="rect">
            <a:avLst/>
          </a:prstGeom>
        </p:spPr>
      </p:pic>
    </p:spTree>
    <p:extLst>
      <p:ext uri="{BB962C8B-B14F-4D97-AF65-F5344CB8AC3E}">
        <p14:creationId xmlns:p14="http://schemas.microsoft.com/office/powerpoint/2010/main" val="4282819801"/>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450B-4A1B-644A-A5B5-BBBF7B843D70}"/>
              </a:ext>
            </a:extLst>
          </p:cNvPr>
          <p:cNvSpPr>
            <a:spLocks noGrp="1"/>
          </p:cNvSpPr>
          <p:nvPr>
            <p:ph type="title"/>
          </p:nvPr>
        </p:nvSpPr>
        <p:spPr/>
        <p:txBody>
          <a:bodyPr/>
          <a:lstStyle/>
          <a:p>
            <a:r>
              <a:rPr lang="en-US" dirty="0"/>
              <a:t>UML Diagrams</a:t>
            </a:r>
          </a:p>
        </p:txBody>
      </p:sp>
      <p:sp>
        <p:nvSpPr>
          <p:cNvPr id="3" name="Content Placeholder 2">
            <a:extLst>
              <a:ext uri="{FF2B5EF4-FFF2-40B4-BE49-F238E27FC236}">
                <a16:creationId xmlns:a16="http://schemas.microsoft.com/office/drawing/2014/main" id="{A9ABBDB5-9EB6-8250-42E2-3DE7D0338078}"/>
              </a:ext>
            </a:extLst>
          </p:cNvPr>
          <p:cNvSpPr>
            <a:spLocks noGrp="1"/>
          </p:cNvSpPr>
          <p:nvPr>
            <p:ph sz="quarter" idx="1"/>
          </p:nvPr>
        </p:nvSpPr>
        <p:spPr/>
        <p:txBody>
          <a:bodyPr/>
          <a:lstStyle/>
          <a:p>
            <a:pPr marL="0" indent="0">
              <a:buNone/>
            </a:pPr>
            <a:r>
              <a:rPr lang="en-US" dirty="0"/>
              <a:t>Collaboration Diagram</a:t>
            </a:r>
          </a:p>
          <a:p>
            <a:endParaRPr lang="en-US" dirty="0"/>
          </a:p>
        </p:txBody>
      </p:sp>
      <p:pic>
        <p:nvPicPr>
          <p:cNvPr id="5" name="Picture 4">
            <a:extLst>
              <a:ext uri="{FF2B5EF4-FFF2-40B4-BE49-F238E27FC236}">
                <a16:creationId xmlns:a16="http://schemas.microsoft.com/office/drawing/2014/main" id="{34139DB3-355E-E8A1-A1E0-A31D4D6B4B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2945" y="2323989"/>
            <a:ext cx="4314825" cy="4219575"/>
          </a:xfrm>
          <a:prstGeom prst="rect">
            <a:avLst/>
          </a:prstGeom>
        </p:spPr>
      </p:pic>
    </p:spTree>
    <p:extLst>
      <p:ext uri="{BB962C8B-B14F-4D97-AF65-F5344CB8AC3E}">
        <p14:creationId xmlns:p14="http://schemas.microsoft.com/office/powerpoint/2010/main" val="3761022486"/>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8CF7C-A182-F470-BD0C-086FFC0E995F}"/>
              </a:ext>
            </a:extLst>
          </p:cNvPr>
          <p:cNvSpPr>
            <a:spLocks noGrp="1"/>
          </p:cNvSpPr>
          <p:nvPr>
            <p:ph type="title"/>
          </p:nvPr>
        </p:nvSpPr>
        <p:spPr/>
        <p:txBody>
          <a:bodyPr/>
          <a:lstStyle/>
          <a:p>
            <a:r>
              <a:rPr lang="en-US" dirty="0"/>
              <a:t>UML Diagrams</a:t>
            </a:r>
          </a:p>
        </p:txBody>
      </p:sp>
      <p:pic>
        <p:nvPicPr>
          <p:cNvPr id="5" name="Content Placeholder 4">
            <a:extLst>
              <a:ext uri="{FF2B5EF4-FFF2-40B4-BE49-F238E27FC236}">
                <a16:creationId xmlns:a16="http://schemas.microsoft.com/office/drawing/2014/main" id="{65B3A4A3-1BBC-96E2-DBE0-C25A547DD90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857670" y="2192532"/>
            <a:ext cx="5334000" cy="4371975"/>
          </a:xfrm>
        </p:spPr>
      </p:pic>
      <p:sp>
        <p:nvSpPr>
          <p:cNvPr id="7" name="TextBox 6">
            <a:extLst>
              <a:ext uri="{FF2B5EF4-FFF2-40B4-BE49-F238E27FC236}">
                <a16:creationId xmlns:a16="http://schemas.microsoft.com/office/drawing/2014/main" id="{D168372E-DEBC-81AC-45CC-B7CA47C537DC}"/>
              </a:ext>
            </a:extLst>
          </p:cNvPr>
          <p:cNvSpPr txBox="1"/>
          <p:nvPr/>
        </p:nvSpPr>
        <p:spPr>
          <a:xfrm>
            <a:off x="489096" y="1669312"/>
            <a:ext cx="3413053" cy="538609"/>
          </a:xfrm>
          <a:prstGeom prst="rect">
            <a:avLst/>
          </a:prstGeom>
          <a:noFill/>
        </p:spPr>
        <p:txBody>
          <a:bodyPr wrap="square" rtlCol="0">
            <a:spAutoFit/>
          </a:bodyPr>
          <a:lstStyle/>
          <a:p>
            <a:r>
              <a:rPr lang="en-IN" sz="2900" dirty="0"/>
              <a:t>Deployment Diagram</a:t>
            </a:r>
          </a:p>
        </p:txBody>
      </p:sp>
    </p:spTree>
    <p:extLst>
      <p:ext uri="{BB962C8B-B14F-4D97-AF65-F5344CB8AC3E}">
        <p14:creationId xmlns:p14="http://schemas.microsoft.com/office/powerpoint/2010/main" val="1089713908"/>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DEB7-6546-2241-EC89-894033D87F76}"/>
              </a:ext>
            </a:extLst>
          </p:cNvPr>
          <p:cNvSpPr>
            <a:spLocks noGrp="1"/>
          </p:cNvSpPr>
          <p:nvPr>
            <p:ph type="title"/>
          </p:nvPr>
        </p:nvSpPr>
        <p:spPr/>
        <p:txBody>
          <a:bodyPr/>
          <a:lstStyle/>
          <a:p>
            <a:r>
              <a:rPr lang="en-IN" dirty="0"/>
              <a:t>CODING</a:t>
            </a:r>
          </a:p>
        </p:txBody>
      </p:sp>
      <p:pic>
        <p:nvPicPr>
          <p:cNvPr id="5" name="Content Placeholder 4">
            <a:extLst>
              <a:ext uri="{FF2B5EF4-FFF2-40B4-BE49-F238E27FC236}">
                <a16:creationId xmlns:a16="http://schemas.microsoft.com/office/drawing/2014/main" id="{2195189C-0AEC-E064-0713-A94A4852E1C5}"/>
              </a:ext>
            </a:extLst>
          </p:cNvPr>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975360" y="1855382"/>
            <a:ext cx="7193280" cy="4495800"/>
          </a:xfrm>
        </p:spPr>
      </p:pic>
    </p:spTree>
    <p:extLst>
      <p:ext uri="{BB962C8B-B14F-4D97-AF65-F5344CB8AC3E}">
        <p14:creationId xmlns:p14="http://schemas.microsoft.com/office/powerpoint/2010/main" val="603627512"/>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86C4D-5B7A-D0AA-6F79-1CA14713C0DC}"/>
              </a:ext>
            </a:extLst>
          </p:cNvPr>
          <p:cNvSpPr>
            <a:spLocks noGrp="1"/>
          </p:cNvSpPr>
          <p:nvPr>
            <p:ph type="title"/>
          </p:nvPr>
        </p:nvSpPr>
        <p:spPr/>
        <p:txBody>
          <a:bodyPr/>
          <a:lstStyle/>
          <a:p>
            <a:r>
              <a:rPr lang="en-IN" dirty="0"/>
              <a:t>CODING</a:t>
            </a:r>
          </a:p>
        </p:txBody>
      </p:sp>
      <p:pic>
        <p:nvPicPr>
          <p:cNvPr id="5" name="Content Placeholder 4">
            <a:extLst>
              <a:ext uri="{FF2B5EF4-FFF2-40B4-BE49-F238E27FC236}">
                <a16:creationId xmlns:a16="http://schemas.microsoft.com/office/drawing/2014/main" id="{C61ACF1D-2105-8D1D-6861-23DA9D11A973}"/>
              </a:ext>
            </a:extLst>
          </p:cNvPr>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092708" y="1823484"/>
            <a:ext cx="7193280" cy="4495800"/>
          </a:xfrm>
        </p:spPr>
      </p:pic>
    </p:spTree>
    <p:extLst>
      <p:ext uri="{BB962C8B-B14F-4D97-AF65-F5344CB8AC3E}">
        <p14:creationId xmlns:p14="http://schemas.microsoft.com/office/powerpoint/2010/main" val="2960961045"/>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BB35-8206-9A33-7394-6EDA65961277}"/>
              </a:ext>
            </a:extLst>
          </p:cNvPr>
          <p:cNvSpPr>
            <a:spLocks noGrp="1"/>
          </p:cNvSpPr>
          <p:nvPr>
            <p:ph type="title"/>
          </p:nvPr>
        </p:nvSpPr>
        <p:spPr/>
        <p:txBody>
          <a:bodyPr/>
          <a:lstStyle/>
          <a:p>
            <a:r>
              <a:rPr lang="en-IN" dirty="0"/>
              <a:t>CODING</a:t>
            </a:r>
          </a:p>
        </p:txBody>
      </p:sp>
      <p:pic>
        <p:nvPicPr>
          <p:cNvPr id="5" name="Content Placeholder 4">
            <a:extLst>
              <a:ext uri="{FF2B5EF4-FFF2-40B4-BE49-F238E27FC236}">
                <a16:creationId xmlns:a16="http://schemas.microsoft.com/office/drawing/2014/main" id="{2B7DC0DF-0522-77BA-F5E8-10FDA68FFE8D}"/>
              </a:ext>
            </a:extLst>
          </p:cNvPr>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092708" y="1881963"/>
            <a:ext cx="7193280" cy="4570227"/>
          </a:xfrm>
        </p:spPr>
      </p:pic>
    </p:spTree>
    <p:extLst>
      <p:ext uri="{BB962C8B-B14F-4D97-AF65-F5344CB8AC3E}">
        <p14:creationId xmlns:p14="http://schemas.microsoft.com/office/powerpoint/2010/main" val="4194206688"/>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2EC6-71D4-2266-80F1-C9D002B6DA66}"/>
              </a:ext>
            </a:extLst>
          </p:cNvPr>
          <p:cNvSpPr>
            <a:spLocks noGrp="1"/>
          </p:cNvSpPr>
          <p:nvPr>
            <p:ph type="title"/>
          </p:nvPr>
        </p:nvSpPr>
        <p:spPr/>
        <p:txBody>
          <a:bodyPr/>
          <a:lstStyle/>
          <a:p>
            <a:r>
              <a:rPr lang="en-IN" dirty="0"/>
              <a:t>CODING</a:t>
            </a:r>
          </a:p>
        </p:txBody>
      </p:sp>
      <p:pic>
        <p:nvPicPr>
          <p:cNvPr id="5" name="Content Placeholder 4">
            <a:extLst>
              <a:ext uri="{FF2B5EF4-FFF2-40B4-BE49-F238E27FC236}">
                <a16:creationId xmlns:a16="http://schemas.microsoft.com/office/drawing/2014/main" id="{451587D8-2D7D-7095-F509-E1F12E14BBBA}"/>
              </a:ext>
            </a:extLst>
          </p:cNvPr>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013091" y="1844749"/>
            <a:ext cx="7193280" cy="4495800"/>
          </a:xfrm>
        </p:spPr>
      </p:pic>
    </p:spTree>
    <p:extLst>
      <p:ext uri="{BB962C8B-B14F-4D97-AF65-F5344CB8AC3E}">
        <p14:creationId xmlns:p14="http://schemas.microsoft.com/office/powerpoint/2010/main" val="3345478046"/>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en-IN" dirty="0"/>
          </a:p>
        </p:txBody>
      </p:sp>
      <p:sp>
        <p:nvSpPr>
          <p:cNvPr id="3" name="Content Placeholder 2"/>
          <p:cNvSpPr>
            <a:spLocks noGrp="1"/>
          </p:cNvSpPr>
          <p:nvPr>
            <p:ph sz="quarter" idx="1"/>
          </p:nvPr>
        </p:nvSpPr>
        <p:spPr>
          <a:xfrm>
            <a:off x="395536" y="1600200"/>
            <a:ext cx="8370512" cy="5130800"/>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         The combination of </a:t>
            </a:r>
            <a:r>
              <a:rPr lang="en-US" sz="1800" dirty="0" err="1">
                <a:latin typeface="Times New Roman" panose="02020603050405020304" pitchFamily="18" charset="0"/>
                <a:cs typeface="Times New Roman" panose="02020603050405020304" pitchFamily="18" charset="0"/>
              </a:rPr>
              <a:t>Vigenère</a:t>
            </a:r>
            <a:r>
              <a:rPr lang="en-US" sz="1800" dirty="0">
                <a:latin typeface="Times New Roman" panose="02020603050405020304" pitchFamily="18" charset="0"/>
                <a:cs typeface="Times New Roman" panose="02020603050405020304" pitchFamily="18" charset="0"/>
              </a:rPr>
              <a:t> and Polybius ciphers creates a layered encryption approach that demonstrates enhanced security over each individual cipher. The dual-layer system requires attackers to break both substitution methods, increasing the complexity of cryptanalysis. </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         While this hybrid approach offers valuable educational insights into classical cryptography principles, it remains vulnerable to modern cryptanalytic techniques. The system successfully achieves basic cryptographic requirements of being deterministic and reversible, while maintaining relatively simple implementation. However, like all classical ciphers, it should not be used for securing sensitive data in real-world </a:t>
            </a:r>
            <a:r>
              <a:rPr lang="en-US" sz="1800">
                <a:latin typeface="Times New Roman" panose="02020603050405020304" pitchFamily="18" charset="0"/>
                <a:cs typeface="Times New Roman" panose="02020603050405020304" pitchFamily="18" charset="0"/>
              </a:rPr>
              <a:t>applications.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1026134"/>
      </p:ext>
    </p:extLst>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172</TotalTime>
  <Words>841</Words>
  <Application>Microsoft Office PowerPoint</Application>
  <PresentationFormat>On-screen Show (4:3)</PresentationFormat>
  <Paragraphs>96</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Calibri</vt:lpstr>
      <vt:lpstr>Times New Roman</vt:lpstr>
      <vt:lpstr>Tw Cen MT</vt:lpstr>
      <vt:lpstr>Tw Cen MT (Headings)</vt:lpstr>
      <vt:lpstr>Wingdings</vt:lpstr>
      <vt:lpstr>Wingdings 2</vt:lpstr>
      <vt:lpstr>Median</vt:lpstr>
      <vt:lpstr>Super Cipher Cryptography System Based on  Vigenere Cipher and Polybius Cipher  </vt:lpstr>
      <vt:lpstr>OUTLINE</vt:lpstr>
      <vt:lpstr>ABSTRACT</vt:lpstr>
      <vt:lpstr>INTRODUCTION</vt:lpstr>
      <vt:lpstr>PROBLEM STATEMENT</vt:lpstr>
      <vt:lpstr>EXISTING SYSTEM</vt:lpstr>
      <vt:lpstr> PROPOSED SYSTEM</vt:lpstr>
      <vt:lpstr>ARCHITECTURE</vt:lpstr>
      <vt:lpstr>WORK FLOW</vt:lpstr>
      <vt:lpstr>HARDWARE REQUIREMENTS</vt:lpstr>
      <vt:lpstr>SOFTWARE REQUIREMENTS</vt:lpstr>
      <vt:lpstr>UML Diagrams</vt:lpstr>
      <vt:lpstr>UML Diagrams</vt:lpstr>
      <vt:lpstr>UML Diagrams</vt:lpstr>
      <vt:lpstr>UML Diagrams</vt:lpstr>
      <vt:lpstr>UML Diagrams</vt:lpstr>
      <vt:lpstr>UML Diagrams</vt:lpstr>
      <vt:lpstr>CODING</vt:lpstr>
      <vt:lpstr>CODING</vt:lpstr>
      <vt:lpstr>CODING</vt:lpstr>
      <vt:lpstr>CODING</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Tarun kumar Thondaladinne</cp:lastModifiedBy>
  <cp:revision>15</cp:revision>
  <dcterms:created xsi:type="dcterms:W3CDTF">2006-08-16T00:00:00Z</dcterms:created>
  <dcterms:modified xsi:type="dcterms:W3CDTF">2025-03-04T07:29:37Z</dcterms:modified>
</cp:coreProperties>
</file>